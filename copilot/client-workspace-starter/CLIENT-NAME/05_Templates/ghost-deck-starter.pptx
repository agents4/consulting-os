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b6f2a13-36bf-ec79-cd6f-bf9249950713}">
          <p14:sldIdLst>
            <p14:sldId id="256"/>
            <p14:sldId id="257"/>
            <p14:sldId id="258"/>
          </p14:sldIdLst>
        </p14:section>
        <p14:section name="Diagnostic" id="{f370ff44-d011-9217-4754-330796108fde}">
          <p14:sldIdLst>
            <p14:sldId id="259"/>
            <p14:sldId id="260"/>
            <p14:sldId id="261"/>
          </p14:sldIdLst>
        </p14:section>
        <p14:section name="Recommendation" id="{f9f4dba2-8b41-8640-3ebd-441ab9f6b236}">
          <p14:sldIdLst>
            <p14:sldId id="262"/>
            <p14:sldId id="263"/>
          </p14:sldIdLst>
        </p14:section>
        <p14:section name="Close" id="{1556e8fb-20e5-cd5e-afae-63335d939df5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24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324A"/>
                </a:solidFill>
                <a:latin typeface="+mn-lt"/>
              </a:rPr>
              <a:t>EBITDA margin, % of revenue (PLACEHOLDER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 (%)</c:v>
                </c:pt>
              </c:strCache>
            </c:strRef>
          </c:tx>
          <c:spPr>
            <a:solidFill>
              <a:srgbClr val="1E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Client</c:v>
                  </c:pt>
                  <c:pt idx="1">
                    <c:v>Peer median</c:v>
                  </c:pt>
                  <c:pt idx="2">
                    <c:v>Top quartile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19</c:v>
                </c:pt>
                <c:pt idx="2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24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324A"/>
                </a:solidFill>
                <a:latin typeface="+mn-lt"/>
              </a:rPr>
              <a:t>EBITDA bridge, $M (PLACEHOLDER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Initiative 1</c:v>
                  </c:pt>
                  <c:pt idx="2">
                    <c:v>Initiative 2</c:v>
                  </c:pt>
                  <c:pt idx="3">
                    <c:v>Initiative 3</c:v>
                  </c:pt>
                  <c:pt idx="4">
                    <c:v>Target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91.5</c:v>
                </c:pt>
                <c:pt idx="2">
                  <c:v>96.4</c:v>
                </c:pt>
                <c:pt idx="3">
                  <c:v>101.6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spPr>
            <a:solidFill>
              <a:srgbClr val="1E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Initiative 1</c:v>
                  </c:pt>
                  <c:pt idx="2">
                    <c:v>Initiative 2</c:v>
                  </c:pt>
                  <c:pt idx="3">
                    <c:v>Initiative 3</c:v>
                  </c:pt>
                  <c:pt idx="4">
                    <c:v>Target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91.5</c:v>
                </c:pt>
                <c:pt idx="1">
                  <c:v>4.9</c:v>
                </c:pt>
                <c:pt idx="2">
                  <c:v>5.2</c:v>
                </c:pt>
                <c:pt idx="3">
                  <c:v>3.3</c:v>
                </c:pt>
                <c:pt idx="4">
                  <c:v>104.9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8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title with the answer, not the topic. Delete this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page. Delete before sharing. The rest of the deck is a worked skeleton with GHOST tags.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GHOST. Write this page last, but sketch it first. It must stand alone as the pre-read.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numbers. Replace from the model Outputs tab. Add to the tie-out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GHOST. Keep the same row format for every option so the eye can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TIED once numbers match model Outputs tab. Note: base series should have no fill; set manually after export or build with think-cell.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GHOST. Every lane needs a named client owner before the final SteerCo.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must be explicit, with names and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add title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Subtitle: client | date | draft status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title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ON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title: full sentence, 2 lines max, states the so-what</a:t>
            </a:r>
            <a:endParaRPr lang="en-US" sz="2400" dirty="0"/>
          </a:p>
        </p:txBody>
      </p:sp>
      <p:sp>
        <p:nvSpPr>
          <p:cNvPr id="3" name="Shape 0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6263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[file / interview / model tab, date]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961120" y="6473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- CONFIDENTIAL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[Engagement codename]: [Answer to the key question in one line]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[Client]  |  [Steering Committee name]  |  [Date]  |  DRAFT v0.1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 ghost deck: write the action titles first, then fill each slide with the evidence that proves it</a:t>
            </a:r>
            <a:endParaRPr lang="en-US" sz="2400" dirty="0"/>
          </a:p>
        </p:txBody>
      </p:sp>
      <p:sp>
        <p:nvSpPr>
          <p:cNvPr id="3" name="step-1-badge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ep-1-num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tep-1-head"/>
          <p:cNvSpPr txBox="1"/>
          <p:nvPr/>
        </p:nvSpPr>
        <p:spPr>
          <a:xfrm>
            <a:off x="1463040" y="1600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Write the storyline</a:t>
            </a:r>
            <a:endParaRPr lang="en-US" sz="1600" dirty="0"/>
          </a:p>
        </p:txBody>
      </p:sp>
      <p:sp>
        <p:nvSpPr>
          <p:cNvPr id="6" name="step-1-body"/>
          <p:cNvSpPr txBox="1"/>
          <p:nvPr/>
        </p:nvSpPr>
        <p:spPr>
          <a:xfrm>
            <a:off x="4572000" y="16002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line per slide, top to bottom. Read only the titles aloud: do they tell the story?</a:t>
            </a:r>
            <a:endParaRPr lang="en-US" sz="1400" dirty="0"/>
          </a:p>
        </p:txBody>
      </p:sp>
      <p:sp>
        <p:nvSpPr>
          <p:cNvPr id="7" name="step-2-badge"/>
          <p:cNvSpPr/>
          <p:nvPr/>
        </p:nvSpPr>
        <p:spPr>
          <a:xfrm>
            <a:off x="640080" y="254203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-2-num"/>
          <p:cNvSpPr txBox="1"/>
          <p:nvPr/>
        </p:nvSpPr>
        <p:spPr>
          <a:xfrm>
            <a:off x="64008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step-2-head"/>
          <p:cNvSpPr txBox="1"/>
          <p:nvPr/>
        </p:nvSpPr>
        <p:spPr>
          <a:xfrm>
            <a:off x="1463040" y="24963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Sketch each slide</a:t>
            </a:r>
            <a:endParaRPr lang="en-US" sz="1600" dirty="0"/>
          </a:p>
        </p:txBody>
      </p:sp>
      <p:sp>
        <p:nvSpPr>
          <p:cNvPr id="10" name="step-2-body"/>
          <p:cNvSpPr txBox="1"/>
          <p:nvPr/>
        </p:nvSpPr>
        <p:spPr>
          <a:xfrm>
            <a:off x="4572000" y="249631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chart type from the Ghost tag. Draw the empty frame before any data exists.</a:t>
            </a:r>
            <a:endParaRPr lang="en-US" sz="1400" dirty="0"/>
          </a:p>
        </p:txBody>
      </p:sp>
      <p:sp>
        <p:nvSpPr>
          <p:cNvPr id="11" name="step-3-badge"/>
          <p:cNvSpPr/>
          <p:nvPr/>
        </p:nvSpPr>
        <p:spPr>
          <a:xfrm>
            <a:off x="640080" y="343814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-3-num"/>
          <p:cNvSpPr txBox="1"/>
          <p:nvPr/>
        </p:nvSpPr>
        <p:spPr>
          <a:xfrm>
            <a:off x="640080" y="3438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step-3-head"/>
          <p:cNvSpPr txBox="1"/>
          <p:nvPr/>
        </p:nvSpPr>
        <p:spPr>
          <a:xfrm>
            <a:off x="1463040" y="339242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Tag status</a:t>
            </a:r>
            <a:endParaRPr lang="en-US" sz="1600" dirty="0"/>
          </a:p>
        </p:txBody>
      </p:sp>
      <p:sp>
        <p:nvSpPr>
          <p:cNvPr id="14" name="step-3-body"/>
          <p:cNvSpPr txBox="1"/>
          <p:nvPr/>
        </p:nvSpPr>
        <p:spPr>
          <a:xfrm>
            <a:off x="4572000" y="339242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GHOST (no data) &gt; DRAFT (placeholder data) &gt; TIED (every number matches the model) &gt; FINAL.</a:t>
            </a:r>
            <a:endParaRPr lang="en-US" sz="1400" dirty="0"/>
          </a:p>
        </p:txBody>
      </p:sp>
      <p:sp>
        <p:nvSpPr>
          <p:cNvPr id="15" name="step-4-badge"/>
          <p:cNvSpPr/>
          <p:nvPr/>
        </p:nvSpPr>
        <p:spPr>
          <a:xfrm>
            <a:off x="640080" y="433425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tep-4-num"/>
          <p:cNvSpPr txBox="1"/>
          <p:nvPr/>
        </p:nvSpPr>
        <p:spPr>
          <a:xfrm>
            <a:off x="640080" y="4334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step-4-head"/>
          <p:cNvSpPr txBox="1"/>
          <p:nvPr/>
        </p:nvSpPr>
        <p:spPr>
          <a:xfrm>
            <a:off x="1463040" y="42885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Fill from the model</a:t>
            </a:r>
            <a:endParaRPr lang="en-US" sz="1600" dirty="0"/>
          </a:p>
        </p:txBody>
      </p:sp>
      <p:sp>
        <p:nvSpPr>
          <p:cNvPr id="18" name="step-4-body"/>
          <p:cNvSpPr txBox="1"/>
          <p:nvPr/>
        </p:nvSpPr>
        <p:spPr>
          <a:xfrm>
            <a:off x="4572000" y="428853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Numbers come from the Outputs tab only. Log each in the tie-out log.</a:t>
            </a:r>
            <a:endParaRPr lang="en-US" sz="1400" dirty="0"/>
          </a:p>
        </p:txBody>
      </p:sp>
      <p:sp>
        <p:nvSpPr>
          <p:cNvPr id="19" name="step-5-badge"/>
          <p:cNvSpPr/>
          <p:nvPr/>
        </p:nvSpPr>
        <p:spPr>
          <a:xfrm>
            <a:off x="640080" y="523036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tep-5-num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step-5-head"/>
          <p:cNvSpPr txBox="1"/>
          <p:nvPr/>
        </p:nvSpPr>
        <p:spPr>
          <a:xfrm>
            <a:off x="1463040" y="5184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Run the checks</a:t>
            </a:r>
            <a:endParaRPr lang="en-US" sz="1600" dirty="0"/>
          </a:p>
        </p:txBody>
      </p:sp>
      <p:sp>
        <p:nvSpPr>
          <p:cNvPr id="22" name="step-5-body"/>
          <p:cNvSpPr txBox="1"/>
          <p:nvPr/>
        </p:nvSpPr>
        <p:spPr>
          <a:xfrm>
            <a:off x="4572000" y="518464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Horizontal flow test, one message per slide, source line, units, QC reviewer.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recommend [decision]: it adds about [$X]M run-rate EBITDA for [$Y]M one-time cost, payback in [N] years</a:t>
            </a:r>
            <a:endParaRPr lang="en-US" sz="2400" dirty="0"/>
          </a:p>
        </p:txBody>
      </p:sp>
      <p:sp>
        <p:nvSpPr>
          <p:cNvPr id="3" name="es-label-bg-0"/>
          <p:cNvSpPr/>
          <p:nvPr/>
        </p:nvSpPr>
        <p:spPr>
          <a:xfrm>
            <a:off x="548640" y="1554480"/>
            <a:ext cx="23774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s-label-0"/>
          <p:cNvSpPr txBox="1"/>
          <p:nvPr/>
        </p:nvSpPr>
        <p:spPr>
          <a:xfrm>
            <a:off x="68580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Situation</a:t>
            </a:r>
            <a:endParaRPr lang="en-US" sz="1500" dirty="0"/>
          </a:p>
        </p:txBody>
      </p:sp>
      <p:sp>
        <p:nvSpPr>
          <p:cNvPr id="5" name="es-text-0"/>
          <p:cNvSpPr txBox="1"/>
          <p:nvPr/>
        </p:nvSpPr>
        <p:spPr>
          <a:xfrm>
            <a:off x="3108960" y="1554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[Client context in one sentence the sponsor would say.]</a:t>
            </a:r>
            <a:endParaRPr lang="en-US" sz="1500" dirty="0"/>
          </a:p>
        </p:txBody>
      </p:sp>
      <p:sp>
        <p:nvSpPr>
          <p:cNvPr id="6" name="es-label-bg-1"/>
          <p:cNvSpPr/>
          <p:nvPr/>
        </p:nvSpPr>
        <p:spPr>
          <a:xfrm>
            <a:off x="548640" y="2487168"/>
            <a:ext cx="23774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s-label-1"/>
          <p:cNvSpPr txBox="1"/>
          <p:nvPr/>
        </p:nvSpPr>
        <p:spPr>
          <a:xfrm>
            <a:off x="685800" y="24871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Complication</a:t>
            </a:r>
            <a:endParaRPr lang="en-US" sz="1500" dirty="0"/>
          </a:p>
        </p:txBody>
      </p:sp>
      <p:sp>
        <p:nvSpPr>
          <p:cNvPr id="8" name="es-text-1"/>
          <p:cNvSpPr txBox="1"/>
          <p:nvPr/>
        </p:nvSpPr>
        <p:spPr>
          <a:xfrm>
            <a:off x="3108960" y="248716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[What changed or what is not working. Quantify.]</a:t>
            </a:r>
            <a:endParaRPr lang="en-US" sz="1500" dirty="0"/>
          </a:p>
        </p:txBody>
      </p:sp>
      <p:sp>
        <p:nvSpPr>
          <p:cNvPr id="9" name="es-label-bg-2"/>
          <p:cNvSpPr/>
          <p:nvPr/>
        </p:nvSpPr>
        <p:spPr>
          <a:xfrm>
            <a:off x="548640" y="3419856"/>
            <a:ext cx="23774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s-label-2"/>
          <p:cNvSpPr txBox="1"/>
          <p:nvPr/>
        </p:nvSpPr>
        <p:spPr>
          <a:xfrm>
            <a:off x="685800" y="341985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Answer</a:t>
            </a:r>
            <a:endParaRPr lang="en-US" sz="1500" dirty="0"/>
          </a:p>
        </p:txBody>
      </p:sp>
      <p:sp>
        <p:nvSpPr>
          <p:cNvPr id="11" name="es-text-2"/>
          <p:cNvSpPr txBox="1"/>
          <p:nvPr/>
        </p:nvSpPr>
        <p:spPr>
          <a:xfrm>
            <a:off x="3108960" y="3419856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[The recommendation, with the size of the prize.]</a:t>
            </a:r>
            <a:endParaRPr lang="en-US" sz="1500" dirty="0"/>
          </a:p>
        </p:txBody>
      </p:sp>
      <p:sp>
        <p:nvSpPr>
          <p:cNvPr id="12" name="es-label-bg-3"/>
          <p:cNvSpPr/>
          <p:nvPr/>
        </p:nvSpPr>
        <p:spPr>
          <a:xfrm>
            <a:off x="548640" y="4352544"/>
            <a:ext cx="23774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es-label-3"/>
          <p:cNvSpPr txBox="1"/>
          <p:nvPr/>
        </p:nvSpPr>
        <p:spPr>
          <a:xfrm>
            <a:off x="685800" y="435254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we believe it</a:t>
            </a:r>
            <a:endParaRPr lang="en-US" sz="1500" dirty="0"/>
          </a:p>
        </p:txBody>
      </p:sp>
      <p:sp>
        <p:nvSpPr>
          <p:cNvPr id="14" name="es-text-3"/>
          <p:cNvSpPr txBox="1"/>
          <p:nvPr/>
        </p:nvSpPr>
        <p:spPr>
          <a:xfrm>
            <a:off x="3108960" y="4352544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[Three proof points, each a bold number or finding.]</a:t>
            </a:r>
            <a:endParaRPr lang="en-US" sz="1500" dirty="0"/>
          </a:p>
        </p:txBody>
      </p:sp>
      <p:sp>
        <p:nvSpPr>
          <p:cNvPr id="15" name="es-label-bg-4"/>
          <p:cNvSpPr/>
          <p:nvPr/>
        </p:nvSpPr>
        <p:spPr>
          <a:xfrm>
            <a:off x="548640" y="5285232"/>
            <a:ext cx="2377440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s-label-4"/>
          <p:cNvSpPr txBox="1"/>
          <p:nvPr/>
        </p:nvSpPr>
        <p:spPr>
          <a:xfrm>
            <a:off x="685800" y="528523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Ask today</a:t>
            </a:r>
            <a:endParaRPr lang="en-US" sz="1500" dirty="0"/>
          </a:p>
        </p:txBody>
      </p:sp>
      <p:sp>
        <p:nvSpPr>
          <p:cNvPr id="17" name="es-text-4"/>
          <p:cNvSpPr txBox="1"/>
          <p:nvPr/>
        </p:nvSpPr>
        <p:spPr>
          <a:xfrm>
            <a:off x="3108960" y="5285232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[Decision requested, named owner, date.]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Diagnostic: where the money is today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[Segment A] earns [X] points less margin than peers, a gap worth about [$Y]M a year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0876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-panel"/>
          <p:cNvSpPr/>
          <p:nvPr/>
        </p:nvSpPr>
        <p:spPr>
          <a:xfrm>
            <a:off x="7863840" y="1508760"/>
            <a:ext cx="374904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llout-head"/>
          <p:cNvSpPr txBox="1"/>
          <p:nvPr/>
        </p:nvSpPr>
        <p:spPr>
          <a:xfrm>
            <a:off x="80924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So what</a:t>
            </a:r>
            <a:endParaRPr lang="en-US" sz="1400" dirty="0"/>
          </a:p>
        </p:txBody>
      </p:sp>
      <p:sp>
        <p:nvSpPr>
          <p:cNvPr id="6" name="callout-body"/>
          <p:cNvSpPr txBox="1"/>
          <p:nvPr/>
        </p:nvSpPr>
        <p:spPr>
          <a:xfrm>
            <a:off x="8092440" y="21031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[Insight 1: the mechanism behind the gap.]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[Insight 2: where it is concentrated.]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[Insight 3: what we test next.]</a:t>
            </a:r>
            <a:endParaRPr lang="en-US" sz="1400" dirty="0"/>
          </a:p>
        </p:txBody>
      </p:sp>
      <p:sp>
        <p:nvSpPr>
          <p:cNvPr id="7" name="status-tag"/>
          <p:cNvSpPr txBox="1"/>
          <p:nvPr/>
        </p:nvSpPr>
        <p:spPr>
          <a:xfrm>
            <a:off x="8092440" y="5349240"/>
            <a:ext cx="1097280" cy="36576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GHOST</a:t>
            </a:r>
            <a:endParaRPr lang="en-US" sz="1100" dirty="0"/>
          </a:p>
        </p:txBody>
      </p:sp>
      <p:sp>
        <p:nvSpPr>
          <p:cNvPr id="8" name="status-note"/>
          <p:cNvSpPr txBox="1"/>
          <p:nvPr/>
        </p:nvSpPr>
        <p:spPr>
          <a:xfrm>
            <a:off x="928116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Chart: bar, 3 categories. Data: Outputs tab C5 (slide 5).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[N] options, [Option B] scores highest on value and feasibility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920240"/>
                <a:gridCol w="2011680"/>
                <a:gridCol w="18288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Value ($M)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Feasibility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 to impact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3"/>
                          </a:solidFill>
                        </a:rPr>
                        <a:t>[Option A]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[H/M/L]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[months]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3"/>
                          </a:solidFill>
                        </a:rPr>
                        <a:t>[Option B]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[H/M/L]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[months]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3"/>
                          </a:solidFill>
                        </a:rPr>
                        <a:t>[Option C]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[H/M/L]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[months]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23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able-note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Scoring rule: [criteria, weights, source]. Same format for every option.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initiatives lift EBITDA from [$91.5]M to [$104.9]M at run-rate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0876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-note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Waterfall: set the first series to no fill in PowerPoint (or use think-cell). Values come from Outputs C20:C24.</a:t>
            </a:r>
            <a:endParaRPr lang="en-US" sz="900" dirty="0"/>
          </a:p>
        </p:txBody>
      </p:sp>
      <p:sp>
        <p:nvSpPr>
          <p:cNvPr id="5" name="kpi-bg-0"/>
          <p:cNvSpPr/>
          <p:nvPr/>
        </p:nvSpPr>
        <p:spPr>
          <a:xfrm>
            <a:off x="8229600" y="1554480"/>
            <a:ext cx="338328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kpi-val-0"/>
          <p:cNvSpPr txBox="1"/>
          <p:nvPr/>
        </p:nvSpPr>
        <p:spPr>
          <a:xfrm>
            <a:off x="8229600" y="16459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[$13.4M]</a:t>
            </a:r>
            <a:endParaRPr lang="en-US" sz="3600" dirty="0"/>
          </a:p>
        </p:txBody>
      </p:sp>
      <p:sp>
        <p:nvSpPr>
          <p:cNvPr id="7" name="kpi-label-0"/>
          <p:cNvSpPr txBox="1"/>
          <p:nvPr/>
        </p:nvSpPr>
        <p:spPr>
          <a:xfrm>
            <a:off x="822960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Run-rate uplift</a:t>
            </a:r>
            <a:endParaRPr lang="en-US" sz="1300" dirty="0"/>
          </a:p>
        </p:txBody>
      </p:sp>
      <p:sp>
        <p:nvSpPr>
          <p:cNvPr id="8" name="kpi-bg-1"/>
          <p:cNvSpPr/>
          <p:nvPr/>
        </p:nvSpPr>
        <p:spPr>
          <a:xfrm>
            <a:off x="8229600" y="3017520"/>
            <a:ext cx="338328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pi-val-1"/>
          <p:cNvSpPr txBox="1"/>
          <p:nvPr/>
        </p:nvSpPr>
        <p:spPr>
          <a:xfrm>
            <a:off x="8229600" y="31089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[$6.0M]</a:t>
            </a:r>
            <a:endParaRPr lang="en-US" sz="3600" dirty="0"/>
          </a:p>
        </p:txBody>
      </p:sp>
      <p:sp>
        <p:nvSpPr>
          <p:cNvPr id="10" name="kpi-label-1"/>
          <p:cNvSpPr txBox="1"/>
          <p:nvPr/>
        </p:nvSpPr>
        <p:spPr>
          <a:xfrm>
            <a:off x="822960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One-time cost</a:t>
            </a:r>
            <a:endParaRPr lang="en-US" sz="1300" dirty="0"/>
          </a:p>
        </p:txBody>
      </p:sp>
      <p:sp>
        <p:nvSpPr>
          <p:cNvPr id="11" name="kpi-bg-2"/>
          <p:cNvSpPr/>
          <p:nvPr/>
        </p:nvSpPr>
        <p:spPr>
          <a:xfrm>
            <a:off x="8229600" y="4480560"/>
            <a:ext cx="338328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kpi-val-2"/>
          <p:cNvSpPr txBox="1"/>
          <p:nvPr/>
        </p:nvSpPr>
        <p:spPr>
          <a:xfrm>
            <a:off x="8229600" y="45720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[Year 2]</a:t>
            </a:r>
            <a:endParaRPr lang="en-US" sz="3600" dirty="0"/>
          </a:p>
        </p:txBody>
      </p:sp>
      <p:sp>
        <p:nvSpPr>
          <p:cNvPr id="13" name="kpi-label-2"/>
          <p:cNvSpPr txBox="1"/>
          <p:nvPr/>
        </p:nvSpPr>
        <p:spPr>
          <a:xfrm>
            <a:off x="822960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Payback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12-month roadmap captures the first [$X]M within [6] months, with named owners for every initiative</a:t>
            </a:r>
            <a:endParaRPr lang="en-US" sz="2400" dirty="0"/>
          </a:p>
        </p:txBody>
      </p:sp>
      <p:sp>
        <p:nvSpPr>
          <p:cNvPr id="3" name="q-head-0"/>
          <p:cNvSpPr txBox="1"/>
          <p:nvPr/>
        </p:nvSpPr>
        <p:spPr>
          <a:xfrm>
            <a:off x="3108960" y="1554480"/>
            <a:ext cx="2057400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4" name="q-head-1"/>
          <p:cNvSpPr txBox="1"/>
          <p:nvPr/>
        </p:nvSpPr>
        <p:spPr>
          <a:xfrm>
            <a:off x="5239512" y="1554480"/>
            <a:ext cx="2057400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5" name="q-head-2"/>
          <p:cNvSpPr txBox="1"/>
          <p:nvPr/>
        </p:nvSpPr>
        <p:spPr>
          <a:xfrm>
            <a:off x="7370064" y="1554480"/>
            <a:ext cx="2057400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6" name="q-head-3"/>
          <p:cNvSpPr txBox="1"/>
          <p:nvPr/>
        </p:nvSpPr>
        <p:spPr>
          <a:xfrm>
            <a:off x="9500616" y="1554480"/>
            <a:ext cx="2057400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Q4</a:t>
            </a:r>
            <a:endParaRPr lang="en-US" sz="1300" dirty="0"/>
          </a:p>
        </p:txBody>
      </p:sp>
      <p:sp>
        <p:nvSpPr>
          <p:cNvPr id="7" name="lane-label-0"/>
          <p:cNvSpPr txBox="1"/>
          <p:nvPr/>
        </p:nvSpPr>
        <p:spPr>
          <a:xfrm>
            <a:off x="548640" y="2148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Initiative 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7C99"/>
                </a:solidFill>
              </a:rPr>
              <a:t>[Owner]</a:t>
            </a:r>
            <a:endParaRPr lang="en-US" sz="1400" dirty="0"/>
          </a:p>
        </p:txBody>
      </p:sp>
      <p:sp>
        <p:nvSpPr>
          <p:cNvPr id="8" name="lane-bar-0"/>
          <p:cNvSpPr/>
          <p:nvPr/>
        </p:nvSpPr>
        <p:spPr>
          <a:xfrm>
            <a:off x="3108960" y="2240280"/>
            <a:ext cx="4187952" cy="548640"/>
          </a:xfrm>
          <a:prstGeom prst="rect">
            <a:avLst/>
          </a:prstGeom>
          <a:solidFill>
            <a:srgbClr val="1E8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lane-text-0"/>
          <p:cNvSpPr txBox="1"/>
          <p:nvPr/>
        </p:nvSpPr>
        <p:spPr>
          <a:xfrm>
            <a:off x="3108960" y="2240280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[milestones]</a:t>
            </a:r>
            <a:endParaRPr lang="en-US" sz="1200" dirty="0"/>
          </a:p>
        </p:txBody>
      </p:sp>
      <p:sp>
        <p:nvSpPr>
          <p:cNvPr id="10" name="lane-label-1"/>
          <p:cNvSpPr txBox="1"/>
          <p:nvPr/>
        </p:nvSpPr>
        <p:spPr>
          <a:xfrm>
            <a:off x="548640" y="3063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Initiative 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7C99"/>
                </a:solidFill>
              </a:rPr>
              <a:t>[Owner]</a:t>
            </a:r>
            <a:endParaRPr lang="en-US" sz="1400" dirty="0"/>
          </a:p>
        </p:txBody>
      </p:sp>
      <p:sp>
        <p:nvSpPr>
          <p:cNvPr id="11" name="lane-bar-1"/>
          <p:cNvSpPr/>
          <p:nvPr/>
        </p:nvSpPr>
        <p:spPr>
          <a:xfrm>
            <a:off x="5239512" y="3154680"/>
            <a:ext cx="4187952" cy="548640"/>
          </a:xfrm>
          <a:prstGeom prst="rect">
            <a:avLst/>
          </a:prstGeom>
          <a:solidFill>
            <a:srgbClr val="1E8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lane-text-1"/>
          <p:cNvSpPr txBox="1"/>
          <p:nvPr/>
        </p:nvSpPr>
        <p:spPr>
          <a:xfrm>
            <a:off x="5239512" y="3154680"/>
            <a:ext cx="4187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[milestones]</a:t>
            </a:r>
            <a:endParaRPr lang="en-US" sz="1200" dirty="0"/>
          </a:p>
        </p:txBody>
      </p:sp>
      <p:sp>
        <p:nvSpPr>
          <p:cNvPr id="13" name="lane-label-2"/>
          <p:cNvSpPr txBox="1"/>
          <p:nvPr/>
        </p:nvSpPr>
        <p:spPr>
          <a:xfrm>
            <a:off x="548640" y="3977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Initiative 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7C99"/>
                </a:solidFill>
              </a:rPr>
              <a:t>[Owner]</a:t>
            </a:r>
            <a:endParaRPr lang="en-US" sz="1400" dirty="0"/>
          </a:p>
        </p:txBody>
      </p:sp>
      <p:sp>
        <p:nvSpPr>
          <p:cNvPr id="14" name="lane-bar-2"/>
          <p:cNvSpPr/>
          <p:nvPr/>
        </p:nvSpPr>
        <p:spPr>
          <a:xfrm>
            <a:off x="3108960" y="4069080"/>
            <a:ext cx="8449056" cy="548640"/>
          </a:xfrm>
          <a:prstGeom prst="rect">
            <a:avLst/>
          </a:prstGeom>
          <a:solidFill>
            <a:srgbClr val="1E8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lane-text-2"/>
          <p:cNvSpPr txBox="1"/>
          <p:nvPr/>
        </p:nvSpPr>
        <p:spPr>
          <a:xfrm>
            <a:off x="3108960" y="4069080"/>
            <a:ext cx="8449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[milestones]</a:t>
            </a:r>
            <a:endParaRPr lang="en-US" sz="1200" dirty="0"/>
          </a:p>
        </p:txBody>
      </p:sp>
      <p:sp>
        <p:nvSpPr>
          <p:cNvPr id="16" name="lane-label-3"/>
          <p:cNvSpPr txBox="1"/>
          <p:nvPr/>
        </p:nvSpPr>
        <p:spPr>
          <a:xfrm>
            <a:off x="548640" y="4892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PMO and change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7C99"/>
                </a:solidFill>
              </a:rPr>
              <a:t>[Owner]</a:t>
            </a:r>
            <a:endParaRPr lang="en-US" sz="1400" dirty="0"/>
          </a:p>
        </p:txBody>
      </p:sp>
      <p:sp>
        <p:nvSpPr>
          <p:cNvPr id="17" name="lane-bar-3"/>
          <p:cNvSpPr/>
          <p:nvPr/>
        </p:nvSpPr>
        <p:spPr>
          <a:xfrm>
            <a:off x="3108960" y="4983480"/>
            <a:ext cx="8449056" cy="548640"/>
          </a:xfrm>
          <a:prstGeom prst="rect">
            <a:avLst/>
          </a:prstGeom>
          <a:solidFill>
            <a:srgbClr val="8A97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lane-text-3"/>
          <p:cNvSpPr txBox="1"/>
          <p:nvPr/>
        </p:nvSpPr>
        <p:spPr>
          <a:xfrm>
            <a:off x="3108960" y="4983480"/>
            <a:ext cx="8449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[milestones]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 the Steering Committee for [three] decisions today so work can start on [date]</a:t>
            </a:r>
            <a:endParaRPr lang="en-US" sz="2400" dirty="0"/>
          </a:p>
        </p:txBody>
      </p:sp>
      <p:sp>
        <p:nvSpPr>
          <p:cNvPr id="3" name="ask-bg-0"/>
          <p:cNvSpPr/>
          <p:nvPr/>
        </p:nvSpPr>
        <p:spPr>
          <a:xfrm>
            <a:off x="548640" y="1645920"/>
            <a:ext cx="35661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sk-num-0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ask-text-0"/>
          <p:cNvSpPr txBox="1"/>
          <p:nvPr/>
        </p:nvSpPr>
        <p:spPr>
          <a:xfrm>
            <a:off x="822960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[Decision 1]</a:t>
            </a:r>
            <a:endParaRPr lang="en-US" sz="1800" dirty="0"/>
          </a:p>
        </p:txBody>
      </p:sp>
      <p:sp>
        <p:nvSpPr>
          <p:cNvPr id="6" name="ask-owner-0"/>
          <p:cNvSpPr txBox="1"/>
          <p:nvPr/>
        </p:nvSpPr>
        <p:spPr>
          <a:xfrm>
            <a:off x="82296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[Owner]  |  [Date]</a:t>
            </a:r>
            <a:endParaRPr lang="en-US" sz="1300" dirty="0"/>
          </a:p>
        </p:txBody>
      </p:sp>
      <p:sp>
        <p:nvSpPr>
          <p:cNvPr id="7" name="ask-bg-1"/>
          <p:cNvSpPr/>
          <p:nvPr/>
        </p:nvSpPr>
        <p:spPr>
          <a:xfrm>
            <a:off x="4297680" y="1645920"/>
            <a:ext cx="35661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sk-num-1"/>
          <p:cNvSpPr txBox="1"/>
          <p:nvPr/>
        </p:nvSpPr>
        <p:spPr>
          <a:xfrm>
            <a:off x="45720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ask-text-1"/>
          <p:cNvSpPr txBox="1"/>
          <p:nvPr/>
        </p:nvSpPr>
        <p:spPr>
          <a:xfrm>
            <a:off x="4572000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[Decision 2]</a:t>
            </a:r>
            <a:endParaRPr lang="en-US" sz="1800" dirty="0"/>
          </a:p>
        </p:txBody>
      </p:sp>
      <p:sp>
        <p:nvSpPr>
          <p:cNvPr id="10" name="ask-owner-1"/>
          <p:cNvSpPr txBox="1"/>
          <p:nvPr/>
        </p:nvSpPr>
        <p:spPr>
          <a:xfrm>
            <a:off x="457200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[Owner]  |  [Date]</a:t>
            </a:r>
            <a:endParaRPr lang="en-US" sz="1300" dirty="0"/>
          </a:p>
        </p:txBody>
      </p:sp>
      <p:sp>
        <p:nvSpPr>
          <p:cNvPr id="11" name="ask-bg-2"/>
          <p:cNvSpPr/>
          <p:nvPr/>
        </p:nvSpPr>
        <p:spPr>
          <a:xfrm>
            <a:off x="8046720" y="1645920"/>
            <a:ext cx="35661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sk-num-2"/>
          <p:cNvSpPr txBox="1"/>
          <p:nvPr/>
        </p:nvSpPr>
        <p:spPr>
          <a:xfrm>
            <a:off x="83210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ask-text-2"/>
          <p:cNvSpPr txBox="1"/>
          <p:nvPr/>
        </p:nvSpPr>
        <p:spPr>
          <a:xfrm>
            <a:off x="8321040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[Decision 3]</a:t>
            </a:r>
            <a:endParaRPr lang="en-US" sz="1800" dirty="0"/>
          </a:p>
        </p:txBody>
      </p:sp>
      <p:sp>
        <p:nvSpPr>
          <p:cNvPr id="14" name="ask-owner-2"/>
          <p:cNvSpPr txBox="1"/>
          <p:nvPr/>
        </p:nvSpPr>
        <p:spPr>
          <a:xfrm>
            <a:off x="832104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[Owner]  |  [Date]</a:t>
            </a:r>
            <a:endParaRPr lang="en-US" sz="1300" dirty="0"/>
          </a:p>
        </p:txBody>
      </p:sp>
      <p:sp>
        <p:nvSpPr>
          <p:cNvPr id="15" name="next-steps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Next 30 / 60 / 90 days: [first three milestones with owners]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lting-OS Starter">
  <a:themeElements>
    <a:clrScheme name="Consulting-OS Starter">
      <a:dk1>
        <a:srgbClr val="1B1F23"/>
      </a:dk1>
      <a:lt1>
        <a:srgbClr val="FFFFFF"/>
      </a:lt1>
      <a:dk2>
        <a:srgbClr val="14324A"/>
      </a:dk2>
      <a:lt2>
        <a:srgbClr val="F2F4F6"/>
      </a:lt2>
      <a:accent1>
        <a:srgbClr val="14324A"/>
      </a:accent1>
      <a:accent2>
        <a:srgbClr val="1E8A8A"/>
      </a:accent2>
      <a:accent3>
        <a:srgbClr val="8A97A3"/>
      </a:accent3>
      <a:accent4>
        <a:srgbClr val="C8553D"/>
      </a:accent4>
      <a:accent5>
        <a:srgbClr val="D9A441"/>
      </a:accent5>
      <a:accent6>
        <a:srgbClr val="5B7C99"/>
      </a:accent6>
      <a:hlink>
        <a:srgbClr val="1E8A8A"/>
      </a:hlink>
      <a:folHlink>
        <a:srgbClr val="8A97A3"/>
      </a:folHlink>
    </a:clrScheme>
    <a:fontScheme name="Consulting-OS Star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Consulting-OS Ghost Deck Starter</dc:title>
  <dc:subject>PptxGenJS Presentation</dc:subject>
  <dc:creator>PptxGenJS</dc:creator>
  <cp:lastModifiedBy>PptxGenJS</cp:lastModifiedBy>
  <cp:revision>1</cp:revision>
  <dcterms:created xsi:type="dcterms:W3CDTF">2026-10-17T01:36:45Z</dcterms:created>
  <dcterms:modified xsi:type="dcterms:W3CDTF">2026-10-17T01:36:45Z</dcterms:modified>
</cp:coreProperties>
</file>